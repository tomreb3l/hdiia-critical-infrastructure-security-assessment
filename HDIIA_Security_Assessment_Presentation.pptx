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" y="0"/>
            <a:ext cx="12027103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4592" y="0"/>
            <a:ext cx="4663440" cy="685800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500000">
            <a:off x="8183880" y="164592"/>
            <a:ext cx="3611880" cy="361188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1400000">
            <a:off x="8458200" y="3154680"/>
            <a:ext cx="2926080" cy="292608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042416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HDIIA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Critical Infrastructure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Security Assessment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306324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Cybersecurity Architecture &amp; Risk Improvement Plan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56875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</a:rPr>
              <a:t>Final Portfolio Polish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68112" y="1325880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</a:rPr>
              <a:t>Executive / client-style security assessment deck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68112" y="20574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F33"/>
                </a:solidFill>
              </a:rPr>
              <a:t>From business-critical services to risks, controls, target architecture, roadmap and measurable maturity outcomes.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5468112" y="3703320"/>
            <a:ext cx="1920240" cy="310896"/>
          </a:xfrm>
          <a:prstGeom prst="roundRect">
            <a:avLst>
              <a:gd name="adj" fmla="val 35294"/>
            </a:avLst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41264" y="3776472"/>
            <a:ext cx="17739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Risk-driven methodology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7543800" y="3703320"/>
            <a:ext cx="1874520" cy="310896"/>
          </a:xfrm>
          <a:prstGeom prst="roundRect">
            <a:avLst>
              <a:gd name="adj" fmla="val 35294"/>
            </a:avLst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16952" y="3776472"/>
            <a:ext cx="172821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Zero Trust target state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9582912" y="3703320"/>
            <a:ext cx="1783080" cy="310896"/>
          </a:xfrm>
          <a:prstGeom prst="roundRect">
            <a:avLst>
              <a:gd name="adj" fmla="val 35294"/>
            </a:avLst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56064" y="3776472"/>
            <a:ext cx="16367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Measurable roadmap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5468112" y="577900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Prepared as a cybersecurity portfolio artifact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Methodology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78638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A traceable path from mission context to security improvement priorities.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HDIIA Critical Infrastructure Security Assessment  |  02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549640" y="651052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Portfolio-ready client presentation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4944" y="1600200"/>
            <a:ext cx="3154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76479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53312" y="17556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Business Context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877056" y="1947672"/>
            <a:ext cx="384048" cy="0"/>
          </a:xfrm>
          <a:prstGeom prst="line">
            <a:avLst/>
          </a:prstGeom>
          <a:noFill/>
          <a:ln w="19050">
            <a:solidFill>
              <a:srgbClr val="1F5AA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471416" y="1600200"/>
            <a:ext cx="3154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76479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29784" y="17556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Critical Services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53528" y="1947672"/>
            <a:ext cx="384048" cy="0"/>
          </a:xfrm>
          <a:prstGeom prst="line">
            <a:avLst/>
          </a:prstGeom>
          <a:noFill/>
          <a:ln w="19050">
            <a:solidFill>
              <a:srgbClr val="1F5AA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247888" y="1600200"/>
            <a:ext cx="3154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94192" y="176479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906256" y="17556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Assets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94944" y="2770632"/>
            <a:ext cx="3154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" y="293522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53312" y="292608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Dependencies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877056" y="3118104"/>
            <a:ext cx="384048" cy="0"/>
          </a:xfrm>
          <a:prstGeom prst="line">
            <a:avLst/>
          </a:prstGeom>
          <a:noFill/>
          <a:ln w="19050">
            <a:solidFill>
              <a:srgbClr val="1F5AA6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471416" y="2770632"/>
            <a:ext cx="3154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293522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129784" y="292608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Threats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653528" y="3118104"/>
            <a:ext cx="384048" cy="0"/>
          </a:xfrm>
          <a:prstGeom prst="line">
            <a:avLst/>
          </a:prstGeom>
          <a:noFill/>
          <a:ln w="19050">
            <a:solidFill>
              <a:srgbClr val="1F5AA6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247888" y="2770632"/>
            <a:ext cx="3154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94192" y="293522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06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06256" y="292608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Risks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94944" y="3941064"/>
            <a:ext cx="3154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" y="410565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07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353312" y="409651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Controls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877056" y="4288536"/>
            <a:ext cx="384048" cy="0"/>
          </a:xfrm>
          <a:prstGeom prst="line">
            <a:avLst/>
          </a:prstGeom>
          <a:noFill/>
          <a:ln w="19050">
            <a:solidFill>
              <a:srgbClr val="1F5AA6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471416" y="3941064"/>
            <a:ext cx="3154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17720" y="410565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08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129784" y="409651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Architecture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653528" y="4288536"/>
            <a:ext cx="384048" cy="0"/>
          </a:xfrm>
          <a:prstGeom prst="line">
            <a:avLst/>
          </a:prstGeom>
          <a:noFill/>
          <a:ln w="19050">
            <a:solidFill>
              <a:srgbClr val="1F5AA6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47888" y="3941064"/>
            <a:ext cx="3154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94192" y="410565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09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906256" y="409651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Roadmap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94944" y="5532120"/>
            <a:ext cx="0" cy="310896"/>
          </a:xfrm>
          <a:prstGeom prst="line">
            <a:avLst/>
          </a:prstGeom>
          <a:noFill/>
          <a:ln w="38100">
            <a:solidFill>
              <a:srgbClr val="1F5A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5486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</a:rPr>
              <a:t>Project intent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13232" y="5943600"/>
            <a:ext cx="73152" cy="73152"/>
          </a:xfrm>
          <a:prstGeom prst="ellipse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7824" y="58704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11827"/>
                </a:solidFill>
              </a:rPr>
              <a:t>Build a portfolio-grade assessment lifecycle, not isolated cybersecurity notes.</a:t>
            </a:r>
            <a:endParaRPr lang="en-US" sz="1320" dirty="0"/>
          </a:p>
        </p:txBody>
      </p:sp>
      <p:sp>
        <p:nvSpPr>
          <p:cNvPr id="46" name="Shape 44"/>
          <p:cNvSpPr/>
          <p:nvPr/>
        </p:nvSpPr>
        <p:spPr>
          <a:xfrm>
            <a:off x="6172200" y="5943600"/>
            <a:ext cx="73152" cy="73152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36792" y="58704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11827"/>
                </a:solidFill>
              </a:rPr>
              <a:t>Show executive traceability: risk → control → architecture → measurable improvement.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Context &amp; Critical Services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78638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The assessment protects services that support sensitive information infrastructure operations.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HDIIA Critical Infrastructure Security Assessment  |  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549640" y="651052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Portfolio-ready client presentation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58368" y="1527048"/>
            <a:ext cx="0" cy="310896"/>
          </a:xfrm>
          <a:prstGeom prst="line">
            <a:avLst/>
          </a:prstGeom>
          <a:noFill/>
          <a:ln w="38100">
            <a:solidFill>
              <a:srgbClr val="1F5A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14813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</a:rPr>
              <a:t>Critical services in scope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13232" y="1883664"/>
            <a:ext cx="50109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544" y="202996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F33"/>
                </a:solidFill>
              </a:rPr>
              <a:t>Secure Data Storage</a:t>
            </a:r>
            <a:endParaRPr lang="en-US" sz="1330" dirty="0"/>
          </a:p>
        </p:txBody>
      </p:sp>
      <p:sp>
        <p:nvSpPr>
          <p:cNvPr id="13" name="Text 11"/>
          <p:cNvSpPr/>
          <p:nvPr/>
        </p:nvSpPr>
        <p:spPr>
          <a:xfrm>
            <a:off x="3227832" y="2011680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34155"/>
                </a:solidFill>
              </a:rPr>
              <a:t>Confidentiality, integrity and availability of sensitive repositories.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6309360" y="1883664"/>
            <a:ext cx="50109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9672" y="202996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F33"/>
                </a:solidFill>
              </a:rPr>
              <a:t>Secure Information Exchange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8823960" y="2011680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34155"/>
                </a:solidFill>
              </a:rPr>
              <a:t>Controlled exchange of information between authorized entities.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713232" y="3044952"/>
            <a:ext cx="50109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" y="319125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F33"/>
                </a:solidFill>
              </a:rPr>
              <a:t>Identity &amp; Access Management</a:t>
            </a:r>
            <a:endParaRPr lang="en-US" sz="1330" dirty="0"/>
          </a:p>
        </p:txBody>
      </p:sp>
      <p:sp>
        <p:nvSpPr>
          <p:cNvPr id="19" name="Text 17"/>
          <p:cNvSpPr/>
          <p:nvPr/>
        </p:nvSpPr>
        <p:spPr>
          <a:xfrm>
            <a:off x="3227832" y="3172968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34155"/>
                </a:solidFill>
              </a:rPr>
              <a:t>Authentication, authorization and privileged access control.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6309360" y="3044952"/>
            <a:ext cx="50109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9672" y="319125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F33"/>
                </a:solidFill>
              </a:rPr>
              <a:t>Critical Application Hosting</a:t>
            </a:r>
            <a:endParaRPr lang="en-US" sz="1330" dirty="0"/>
          </a:p>
        </p:txBody>
      </p:sp>
      <p:sp>
        <p:nvSpPr>
          <p:cNvPr id="22" name="Text 20"/>
          <p:cNvSpPr/>
          <p:nvPr/>
        </p:nvSpPr>
        <p:spPr>
          <a:xfrm>
            <a:off x="8823960" y="3172968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34155"/>
                </a:solidFill>
              </a:rPr>
              <a:t>Hosting platforms for critical mission applications.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713232" y="4206240"/>
            <a:ext cx="50109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" y="4352544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F33"/>
                </a:solidFill>
              </a:rPr>
              <a:t>Security Monitoring</a:t>
            </a:r>
            <a:endParaRPr lang="en-US" sz="1330" dirty="0"/>
          </a:p>
        </p:txBody>
      </p:sp>
      <p:sp>
        <p:nvSpPr>
          <p:cNvPr id="25" name="Text 23"/>
          <p:cNvSpPr/>
          <p:nvPr/>
        </p:nvSpPr>
        <p:spPr>
          <a:xfrm>
            <a:off x="3227832" y="4334256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34155"/>
                </a:solidFill>
              </a:rPr>
              <a:t>Log collection, alerting and incident detection capability.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6309360" y="4206240"/>
            <a:ext cx="50109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19672" y="4352544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F33"/>
                </a:solidFill>
              </a:rPr>
              <a:t>Data Center Infrastructure</a:t>
            </a:r>
            <a:endParaRPr lang="en-US" sz="1330" dirty="0"/>
          </a:p>
        </p:txBody>
      </p:sp>
      <p:sp>
        <p:nvSpPr>
          <p:cNvPr id="28" name="Text 26"/>
          <p:cNvSpPr/>
          <p:nvPr/>
        </p:nvSpPr>
        <p:spPr>
          <a:xfrm>
            <a:off x="8823960" y="4334256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34155"/>
                </a:solidFill>
              </a:rPr>
              <a:t>Physical and technical infrastructure for critical systems.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5303520" y="5340096"/>
            <a:ext cx="1499616" cy="457200"/>
          </a:xfrm>
          <a:prstGeom prst="chevron">
            <a:avLst/>
          </a:prstGeom>
          <a:solidFill>
            <a:srgbClr val="EAF2FF"/>
          </a:solidFill>
          <a:ln w="12700">
            <a:solidFill>
              <a:srgbClr val="1F5A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36976" y="5916168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AA6"/>
                </a:solidFill>
              </a:rPr>
              <a:t>Business impact drives security prioritization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Security Posture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78638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Current state shows defined foundations, with gaps in identity, monitoring and response maturity.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HDIIA Critical Infrastructure Security Assessment  |  04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549640" y="651052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Portfolio-ready client presentation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22960" y="14173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Security Domain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86200" y="14173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Current Level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06640" y="14173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Target Level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3232" y="1783080"/>
            <a:ext cx="10698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1915668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b="1" dirty="0">
                <a:solidFill>
                  <a:srgbClr val="0B1F33"/>
                </a:solidFill>
              </a:rPr>
              <a:t>Governance</a:t>
            </a:r>
            <a:endParaRPr lang="en-US" sz="1090" dirty="0"/>
          </a:p>
        </p:txBody>
      </p:sp>
      <p:sp>
        <p:nvSpPr>
          <p:cNvPr id="14" name="Shape 12"/>
          <p:cNvSpPr/>
          <p:nvPr/>
        </p:nvSpPr>
        <p:spPr>
          <a:xfrm>
            <a:off x="3703320" y="1856232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76472" y="1929384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3 — Defined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6355080" y="1993392"/>
            <a:ext cx="59436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88352" y="1856232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61504" y="1929384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4 — Managed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713232" y="2350008"/>
            <a:ext cx="10698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2482596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b="1" dirty="0">
                <a:solidFill>
                  <a:srgbClr val="0B1F33"/>
                </a:solidFill>
              </a:rPr>
              <a:t>Asset Management</a:t>
            </a:r>
            <a:endParaRPr lang="en-US" sz="1090" dirty="0"/>
          </a:p>
        </p:txBody>
      </p:sp>
      <p:sp>
        <p:nvSpPr>
          <p:cNvPr id="21" name="Shape 19"/>
          <p:cNvSpPr/>
          <p:nvPr/>
        </p:nvSpPr>
        <p:spPr>
          <a:xfrm>
            <a:off x="3703320" y="2423160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76472" y="2496312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3 — Defined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6355080" y="2560320"/>
            <a:ext cx="59436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388352" y="2423160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61504" y="2496312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4 — Managed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713232" y="2916936"/>
            <a:ext cx="10698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304952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b="1" dirty="0">
                <a:solidFill>
                  <a:srgbClr val="0B1F33"/>
                </a:solidFill>
              </a:rPr>
              <a:t>Identity Security</a:t>
            </a:r>
            <a:endParaRPr lang="en-US" sz="1090" dirty="0"/>
          </a:p>
        </p:txBody>
      </p:sp>
      <p:sp>
        <p:nvSpPr>
          <p:cNvPr id="28" name="Shape 26"/>
          <p:cNvSpPr/>
          <p:nvPr/>
        </p:nvSpPr>
        <p:spPr>
          <a:xfrm>
            <a:off x="3703320" y="2990088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76472" y="3063240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2 — Developing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355080" y="3127248"/>
            <a:ext cx="59436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88352" y="2990088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61504" y="3063240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4 — Managed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713232" y="3483864"/>
            <a:ext cx="10698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" y="3616452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b="1" dirty="0">
                <a:solidFill>
                  <a:srgbClr val="0B1F33"/>
                </a:solidFill>
              </a:rPr>
              <a:t>Network Security</a:t>
            </a:r>
            <a:endParaRPr lang="en-US" sz="1090" dirty="0"/>
          </a:p>
        </p:txBody>
      </p:sp>
      <p:sp>
        <p:nvSpPr>
          <p:cNvPr id="35" name="Shape 33"/>
          <p:cNvSpPr/>
          <p:nvPr/>
        </p:nvSpPr>
        <p:spPr>
          <a:xfrm>
            <a:off x="3703320" y="3557016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776472" y="3630168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3 — Defined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6355080" y="3694176"/>
            <a:ext cx="59436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388352" y="3557016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61504" y="3630168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4 — Managed</a:t>
            </a:r>
            <a:endParaRPr lang="en-US" sz="880" dirty="0"/>
          </a:p>
        </p:txBody>
      </p:sp>
      <p:sp>
        <p:nvSpPr>
          <p:cNvPr id="40" name="Shape 38"/>
          <p:cNvSpPr/>
          <p:nvPr/>
        </p:nvSpPr>
        <p:spPr>
          <a:xfrm>
            <a:off x="713232" y="4050792"/>
            <a:ext cx="10698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2688" y="4183380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b="1" dirty="0">
                <a:solidFill>
                  <a:srgbClr val="0B1F33"/>
                </a:solidFill>
              </a:rPr>
              <a:t>Security Monitoring</a:t>
            </a:r>
            <a:endParaRPr lang="en-US" sz="1090" dirty="0"/>
          </a:p>
        </p:txBody>
      </p:sp>
      <p:sp>
        <p:nvSpPr>
          <p:cNvPr id="42" name="Shape 40"/>
          <p:cNvSpPr/>
          <p:nvPr/>
        </p:nvSpPr>
        <p:spPr>
          <a:xfrm>
            <a:off x="3703320" y="4123944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776472" y="4197096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2 — Developing</a:t>
            </a:r>
            <a:endParaRPr lang="en-US" sz="880" dirty="0"/>
          </a:p>
        </p:txBody>
      </p:sp>
      <p:sp>
        <p:nvSpPr>
          <p:cNvPr id="44" name="Shape 42"/>
          <p:cNvSpPr/>
          <p:nvPr/>
        </p:nvSpPr>
        <p:spPr>
          <a:xfrm>
            <a:off x="6355080" y="4261104"/>
            <a:ext cx="59436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388352" y="4123944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61504" y="4197096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4 — Managed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13232" y="4617720"/>
            <a:ext cx="10698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32688" y="4750308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b="1" dirty="0">
                <a:solidFill>
                  <a:srgbClr val="0B1F33"/>
                </a:solidFill>
              </a:rPr>
              <a:t>Incident Response</a:t>
            </a:r>
            <a:endParaRPr lang="en-US" sz="1090" dirty="0"/>
          </a:p>
        </p:txBody>
      </p:sp>
      <p:sp>
        <p:nvSpPr>
          <p:cNvPr id="49" name="Shape 47"/>
          <p:cNvSpPr/>
          <p:nvPr/>
        </p:nvSpPr>
        <p:spPr>
          <a:xfrm>
            <a:off x="3703320" y="4690872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76472" y="4764024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2 — Developing</a:t>
            </a:r>
            <a:endParaRPr lang="en-US" sz="880" dirty="0"/>
          </a:p>
        </p:txBody>
      </p:sp>
      <p:sp>
        <p:nvSpPr>
          <p:cNvPr id="51" name="Shape 49"/>
          <p:cNvSpPr/>
          <p:nvPr/>
        </p:nvSpPr>
        <p:spPr>
          <a:xfrm>
            <a:off x="6355080" y="4828032"/>
            <a:ext cx="59436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7388352" y="4690872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61504" y="4764024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4 — Managed</a:t>
            </a:r>
            <a:endParaRPr lang="en-US" sz="880" dirty="0"/>
          </a:p>
        </p:txBody>
      </p:sp>
      <p:sp>
        <p:nvSpPr>
          <p:cNvPr id="54" name="Shape 52"/>
          <p:cNvSpPr/>
          <p:nvPr/>
        </p:nvSpPr>
        <p:spPr>
          <a:xfrm>
            <a:off x="713232" y="5184648"/>
            <a:ext cx="10698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32688" y="5317236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b="1" dirty="0">
                <a:solidFill>
                  <a:srgbClr val="0B1F33"/>
                </a:solidFill>
              </a:rPr>
              <a:t>Resilience</a:t>
            </a:r>
            <a:endParaRPr lang="en-US" sz="1090" dirty="0"/>
          </a:p>
        </p:txBody>
      </p:sp>
      <p:sp>
        <p:nvSpPr>
          <p:cNvPr id="56" name="Shape 54"/>
          <p:cNvSpPr/>
          <p:nvPr/>
        </p:nvSpPr>
        <p:spPr>
          <a:xfrm>
            <a:off x="3703320" y="5257800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76472" y="5330952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3 — Defined</a:t>
            </a:r>
            <a:endParaRPr lang="en-US" sz="880" dirty="0"/>
          </a:p>
        </p:txBody>
      </p:sp>
      <p:sp>
        <p:nvSpPr>
          <p:cNvPr id="58" name="Shape 56"/>
          <p:cNvSpPr/>
          <p:nvPr/>
        </p:nvSpPr>
        <p:spPr>
          <a:xfrm>
            <a:off x="6355080" y="5394960"/>
            <a:ext cx="59436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7388352" y="5257800"/>
            <a:ext cx="2148840" cy="310896"/>
          </a:xfrm>
          <a:prstGeom prst="roundRect">
            <a:avLst>
              <a:gd name="adj" fmla="val 35294"/>
            </a:avLst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461504" y="5330952"/>
            <a:ext cx="2002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Level 4 — Managed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713232" y="5989320"/>
            <a:ext cx="10698480" cy="347472"/>
          </a:xfrm>
          <a:prstGeom prst="roundRect">
            <a:avLst>
              <a:gd name="adj" fmla="val 21053"/>
            </a:avLst>
          </a:prstGeom>
          <a:solidFill>
            <a:srgbClr val="EE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6099048"/>
            <a:ext cx="10287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F33"/>
                </a:solidFill>
              </a:rPr>
              <a:t>Interpretation: the program is not starting from zero; it needs managed, measured and repeatable security capabilities.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Assets &amp; Dependencies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78638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Asset visibility is the foundation for threat modeling, risk scoring and control selection.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HDIIA Critical Infrastructure Security Assessment  |  05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549640" y="651052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Portfolio-ready client presentation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630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Asset ID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38528" y="1463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Asset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70448" y="1463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Criticality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0" y="146304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Security requirement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" y="1828800"/>
            <a:ext cx="108813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194767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F5AA6"/>
                </a:solidFill>
              </a:rPr>
              <a:t>HDIIA-IT-001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1938528" y="192938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B1F33"/>
                </a:solidFill>
              </a:rPr>
              <a:t>Identity Management Infrastructure</a:t>
            </a:r>
            <a:endParaRPr lang="en-US" sz="1140" dirty="0"/>
          </a:p>
        </p:txBody>
      </p:sp>
      <p:sp>
        <p:nvSpPr>
          <p:cNvPr id="16" name="Shape 14"/>
          <p:cNvSpPr/>
          <p:nvPr/>
        </p:nvSpPr>
        <p:spPr>
          <a:xfrm>
            <a:off x="5779008" y="1901952"/>
            <a:ext cx="1005840" cy="310896"/>
          </a:xfrm>
          <a:prstGeom prst="roundRect">
            <a:avLst>
              <a:gd name="adj" fmla="val 35294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0" y="1975104"/>
            <a:ext cx="859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Critical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7315200" y="1929384"/>
            <a:ext cx="3429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MFA, PAM, logging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6656" y="2487168"/>
            <a:ext cx="108813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260604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F5AA6"/>
                </a:solidFill>
              </a:rPr>
              <a:t>HDIIA-NET-001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1938528" y="2587752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B1F33"/>
                </a:solidFill>
              </a:rPr>
              <a:t>Core Network Infrastructure</a:t>
            </a:r>
            <a:endParaRPr lang="en-US" sz="1140" dirty="0"/>
          </a:p>
        </p:txBody>
      </p:sp>
      <p:sp>
        <p:nvSpPr>
          <p:cNvPr id="22" name="Shape 20"/>
          <p:cNvSpPr/>
          <p:nvPr/>
        </p:nvSpPr>
        <p:spPr>
          <a:xfrm>
            <a:off x="5779008" y="2560320"/>
            <a:ext cx="1005840" cy="310896"/>
          </a:xfrm>
          <a:prstGeom prst="roundRect">
            <a:avLst>
              <a:gd name="adj" fmla="val 35294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0" y="2633472"/>
            <a:ext cx="859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Critical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7315200" y="2587752"/>
            <a:ext cx="3429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Segmentation, monitoring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76656" y="3145536"/>
            <a:ext cx="108813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326440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F5AA6"/>
                </a:solidFill>
              </a:rPr>
              <a:t>HDIIA-DC-001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1938528" y="3246120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B1F33"/>
                </a:solidFill>
              </a:rPr>
              <a:t>Data Center Computing Platform</a:t>
            </a:r>
            <a:endParaRPr lang="en-US" sz="1140" dirty="0"/>
          </a:p>
        </p:txBody>
      </p:sp>
      <p:sp>
        <p:nvSpPr>
          <p:cNvPr id="28" name="Shape 26"/>
          <p:cNvSpPr/>
          <p:nvPr/>
        </p:nvSpPr>
        <p:spPr>
          <a:xfrm>
            <a:off x="5779008" y="3218688"/>
            <a:ext cx="1005840" cy="310896"/>
          </a:xfrm>
          <a:prstGeom prst="roundRect">
            <a:avLst>
              <a:gd name="adj" fmla="val 35294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52160" y="3291840"/>
            <a:ext cx="859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Critical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7315200" y="3246120"/>
            <a:ext cx="3429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Hardening, backup, VM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76656" y="3803904"/>
            <a:ext cx="108813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392277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F5AA6"/>
                </a:solidFill>
              </a:rPr>
              <a:t>HDIIA-DATA-001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1938528" y="3904488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B1F33"/>
                </a:solidFill>
              </a:rPr>
              <a:t>Critical Information Repositories</a:t>
            </a:r>
            <a:endParaRPr lang="en-US" sz="1140" dirty="0"/>
          </a:p>
        </p:txBody>
      </p:sp>
      <p:sp>
        <p:nvSpPr>
          <p:cNvPr id="34" name="Shape 32"/>
          <p:cNvSpPr/>
          <p:nvPr/>
        </p:nvSpPr>
        <p:spPr>
          <a:xfrm>
            <a:off x="5779008" y="3877056"/>
            <a:ext cx="1005840" cy="310896"/>
          </a:xfrm>
          <a:prstGeom prst="roundRect">
            <a:avLst>
              <a:gd name="adj" fmla="val 35294"/>
            </a:avLst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52160" y="3950208"/>
            <a:ext cx="859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High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7315200" y="3904488"/>
            <a:ext cx="3429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Encryption, access control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76656" y="4462272"/>
            <a:ext cx="108813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458114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F5AA6"/>
                </a:solidFill>
              </a:rPr>
              <a:t>HDIIA-SEC-001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1938528" y="4562856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B1F33"/>
                </a:solidFill>
              </a:rPr>
              <a:t>Security Monitoring Platform</a:t>
            </a:r>
            <a:endParaRPr lang="en-US" sz="1140" dirty="0"/>
          </a:p>
        </p:txBody>
      </p:sp>
      <p:sp>
        <p:nvSpPr>
          <p:cNvPr id="40" name="Shape 38"/>
          <p:cNvSpPr/>
          <p:nvPr/>
        </p:nvSpPr>
        <p:spPr>
          <a:xfrm>
            <a:off x="5779008" y="4535424"/>
            <a:ext cx="1005840" cy="310896"/>
          </a:xfrm>
          <a:prstGeom prst="roundRect">
            <a:avLst>
              <a:gd name="adj" fmla="val 35294"/>
            </a:avLst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52160" y="4608576"/>
            <a:ext cx="8595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High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7315200" y="4562856"/>
            <a:ext cx="3429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SIEM protection, alert integrity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13232" y="5650992"/>
            <a:ext cx="0" cy="310896"/>
          </a:xfrm>
          <a:prstGeom prst="line">
            <a:avLst/>
          </a:prstGeom>
          <a:noFill/>
          <a:ln w="38100">
            <a:solidFill>
              <a:srgbClr val="1F5AA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1248" y="5605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</a:rPr>
              <a:t>Assessment principle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68680" y="5998464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Protect assets because they support critical business services — not because they are merely technical components.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Landscape &amp; Assessment Flow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78638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Threat scenarios are converted into business risks through likelihood, impact and control treatment analysis.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HDIIA Critical Infrastructure Security Assessment  |  06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549640" y="651052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Portfolio-ready client presentation</a:t>
            </a:r>
            <a:endParaRPr lang="en-US" sz="750" dirty="0"/>
          </a:p>
        </p:txBody>
      </p:sp>
      <p:pic>
        <p:nvPicPr>
          <p:cNvPr id="9" name="Image 0" descr="/mnt/data/hdiia_work/repo/HDIIA-Critical-Infrastructure-Security-Assessment/diagrams/threat_risk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4312"/>
            <a:ext cx="5715000" cy="3810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720840" y="1581912"/>
            <a:ext cx="0" cy="310896"/>
          </a:xfrm>
          <a:prstGeom prst="line">
            <a:avLst/>
          </a:prstGeom>
          <a:noFill/>
          <a:ln w="38100">
            <a:solidFill>
              <a:srgbClr val="EA580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48856" y="15361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</a:rPr>
              <a:t>Threat scenarios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48272" y="201168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TS-001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516368" y="200253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3"/>
                </a:solidFill>
              </a:rPr>
              <a:t>Ransomware Attack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516368" y="2240280"/>
            <a:ext cx="2606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64748B"/>
                </a:solidFill>
              </a:rPr>
              <a:t>availability and recovery risk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6748272" y="265176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TS-002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516368" y="264261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3"/>
                </a:solidFill>
              </a:rPr>
              <a:t>Credential Compromise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516368" y="2880360"/>
            <a:ext cx="2606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64748B"/>
                </a:solidFill>
              </a:rPr>
              <a:t>identity and access risk</a:t>
            </a:r>
            <a:endParaRPr lang="en-US" sz="960" dirty="0"/>
          </a:p>
        </p:txBody>
      </p:sp>
      <p:sp>
        <p:nvSpPr>
          <p:cNvPr id="18" name="Text 15"/>
          <p:cNvSpPr/>
          <p:nvPr/>
        </p:nvSpPr>
        <p:spPr>
          <a:xfrm>
            <a:off x="6748272" y="329184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TS-003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516368" y="328269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3"/>
                </a:solidFill>
              </a:rPr>
              <a:t>Privileged Account Misuse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7516368" y="3520440"/>
            <a:ext cx="2606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64748B"/>
                </a:solidFill>
              </a:rPr>
              <a:t>insider and abuse risk</a:t>
            </a:r>
            <a:endParaRPr lang="en-US" sz="960" dirty="0"/>
          </a:p>
        </p:txBody>
      </p:sp>
      <p:sp>
        <p:nvSpPr>
          <p:cNvPr id="21" name="Text 18"/>
          <p:cNvSpPr/>
          <p:nvPr/>
        </p:nvSpPr>
        <p:spPr>
          <a:xfrm>
            <a:off x="6748272" y="393192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TS-004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516368" y="392277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3"/>
                </a:solidFill>
              </a:rPr>
              <a:t>Supply Chain Compromise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7516368" y="4160520"/>
            <a:ext cx="2606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64748B"/>
                </a:solidFill>
              </a:rPr>
              <a:t>external dependency risk</a:t>
            </a:r>
            <a:endParaRPr lang="en-US" sz="960" dirty="0"/>
          </a:p>
        </p:txBody>
      </p:sp>
      <p:sp>
        <p:nvSpPr>
          <p:cNvPr id="24" name="Text 21"/>
          <p:cNvSpPr/>
          <p:nvPr/>
        </p:nvSpPr>
        <p:spPr>
          <a:xfrm>
            <a:off x="6748272" y="457200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TS-005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516368" y="456285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3"/>
                </a:solidFill>
              </a:rPr>
              <a:t>Network Disruption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7516368" y="4800600"/>
            <a:ext cx="2606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64748B"/>
                </a:solidFill>
              </a:rPr>
              <a:t>resilience and continuity risk</a:t>
            </a:r>
            <a:endParaRPr lang="en-US" sz="960" dirty="0"/>
          </a:p>
        </p:txBody>
      </p:sp>
      <p:sp>
        <p:nvSpPr>
          <p:cNvPr id="27" name="Shape 24"/>
          <p:cNvSpPr/>
          <p:nvPr/>
        </p:nvSpPr>
        <p:spPr>
          <a:xfrm>
            <a:off x="6629400" y="5596128"/>
            <a:ext cx="4663440" cy="576072"/>
          </a:xfrm>
          <a:prstGeom prst="roundRect">
            <a:avLst>
              <a:gd name="adj" fmla="val 12698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30568" y="5806440"/>
            <a:ext cx="4251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580C"/>
                </a:solidFill>
              </a:rPr>
              <a:t>Outcome: risk treatment priorities feed control mapping and architecture decisions.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pic>
        <p:nvPicPr>
          <p:cNvPr id="4" name="Image 0" descr="/mnt/data/hdiia_work/repo/HDIIA-Critical-Infrastructure-Security-Assessment/05_Risk_Assessment/risk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553" y="91440"/>
            <a:ext cx="11080701" cy="62362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HDIIA Critical Infrastructure Security Assessment  |  07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549640" y="651052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Portfolio-ready client presentation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Risk Treatments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78638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Treatment strategy translates risk findings into practical security actions and accountable ownership.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HDIIA Critical Infrastructure Security Assessment  |  08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549640" y="651052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Portfolio-ready client presentation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13232" y="1417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14173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Scenario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15968" y="1417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Level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0" y="141732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Owner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0" y="141732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Treatment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178308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93852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R-001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45920" y="192024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3"/>
                </a:solidFill>
              </a:rPr>
              <a:t>Ransomware Attack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51960" y="1883664"/>
            <a:ext cx="877824" cy="310896"/>
          </a:xfrm>
          <a:prstGeom prst="roundRect">
            <a:avLst>
              <a:gd name="adj" fmla="val 35294"/>
            </a:avLst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25112" y="1956816"/>
            <a:ext cx="731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High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5486400" y="1920240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Application Owner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0" y="187452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Segmentation, recovery testing, ransomware protection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58368" y="253288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268833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R-002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645920" y="2670048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3"/>
                </a:solidFill>
              </a:rPr>
              <a:t>Credential Compromise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51960" y="2633472"/>
            <a:ext cx="877824" cy="310896"/>
          </a:xfrm>
          <a:prstGeom prst="roundRect">
            <a:avLst>
              <a:gd name="adj" fmla="val 35294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25112" y="2706624"/>
            <a:ext cx="731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Critical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486400" y="267004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Identity Owner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0" y="262432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MFA enforcement and privileged access management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8368" y="328269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343814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R-003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645920" y="3419856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3"/>
                </a:solidFill>
              </a:rPr>
              <a:t>Privileged Account Misuse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251960" y="3383280"/>
            <a:ext cx="877824" cy="310896"/>
          </a:xfrm>
          <a:prstGeom prst="roundRect">
            <a:avLst>
              <a:gd name="adj" fmla="val 35294"/>
            </a:avLst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25112" y="3456432"/>
            <a:ext cx="731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High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5486400" y="3419856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Security Manager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15200" y="337413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Privileged access governance and audit logging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58368" y="4032504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18795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R-004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645920" y="4169664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3"/>
                </a:solidFill>
              </a:rPr>
              <a:t>Supply Chain Compromise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251960" y="4133088"/>
            <a:ext cx="877824" cy="310896"/>
          </a:xfrm>
          <a:prstGeom prst="roundRect">
            <a:avLst>
              <a:gd name="adj" fmla="val 35294"/>
            </a:avLst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25112" y="4206240"/>
            <a:ext cx="731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High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5486400" y="4169664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Vendor Owner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315200" y="412394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Third-party risk assessment and supplier controls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58368" y="478231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493776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AA6"/>
                </a:solidFill>
              </a:rPr>
              <a:t>R-005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645920" y="491947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3"/>
                </a:solidFill>
              </a:rPr>
              <a:t>Network Disruption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251960" y="4882896"/>
            <a:ext cx="877824" cy="310896"/>
          </a:xfrm>
          <a:prstGeom prst="roundRect">
            <a:avLst>
              <a:gd name="adj" fmla="val 35294"/>
            </a:avLst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25112" y="4956048"/>
            <a:ext cx="731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High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5486400" y="4919472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Infrastructure Owner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315200" y="487375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Resilience, redundancy and network monitoring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49808" y="5961888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3"/>
                </a:solidFill>
              </a:rPr>
              <a:t>Priority logic: address identity and privileged access first, while improving resilience for ransomware and network disruption scenarios.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Control Framework Mapping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78638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Controls are selected for traceability across risk, objective, framework and architecture component.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HDIIA Critical Infrastructure Security Assessment  |  09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549640" y="651052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Portfolio-ready client presentation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13232" y="17830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1947672"/>
            <a:ext cx="292608" cy="292608"/>
          </a:xfrm>
          <a:prstGeom prst="ellipse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" y="192938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</a:rPr>
              <a:t>Identity Controls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41832" y="229514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34155"/>
                </a:solidFill>
              </a:rPr>
              <a:t>MFA, IAM, PAM, access reviews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941832" y="267919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F5AA6"/>
                </a:solidFill>
              </a:rPr>
              <a:t>NIST Protect / ISO Access Control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416552" y="17830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81144" y="1947672"/>
            <a:ext cx="292608" cy="29260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192938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</a:rPr>
              <a:t>Network Controls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45152" y="229514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34155"/>
                </a:solidFill>
              </a:rPr>
              <a:t>Segmentation, firewalls, IDS/IPS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4645152" y="267919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5803D"/>
                </a:solidFill>
              </a:rPr>
              <a:t>NIST Protect + Detect / ISO Network Security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119872" y="17830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84464" y="1947672"/>
            <a:ext cx="292608" cy="29260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0" y="192938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</a:rPr>
              <a:t>Monitoring Controls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48472" y="229514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34155"/>
                </a:solidFill>
              </a:rPr>
              <a:t>Central logging, SIEM, alerting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8348472" y="267919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EA580C"/>
                </a:solidFill>
              </a:rPr>
              <a:t>NIST Detect + Respond / ISO Monitoring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2560320" y="3858768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24912" y="4023360"/>
            <a:ext cx="292608" cy="29260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27248" y="400507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</a:rPr>
              <a:t>Resilience Controls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88920" y="437083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34155"/>
                </a:solidFill>
              </a:rPr>
              <a:t>Backup, DR, recovery testing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2788920" y="475488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F766E"/>
                </a:solidFill>
              </a:rPr>
              <a:t>NIST Recover / ISO Business Continuity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6675120" y="3858768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39712" y="4023360"/>
            <a:ext cx="292608" cy="29260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42048" y="400507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</a:rPr>
              <a:t>Supplier Controls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03720" y="437083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334155"/>
                </a:solidFill>
              </a:rPr>
              <a:t>Third-party risk management</a:t>
            </a:r>
            <a:endParaRPr lang="en-US" sz="1020" dirty="0"/>
          </a:p>
        </p:txBody>
      </p:sp>
      <p:sp>
        <p:nvSpPr>
          <p:cNvPr id="33" name="Text 31"/>
          <p:cNvSpPr/>
          <p:nvPr/>
        </p:nvSpPr>
        <p:spPr>
          <a:xfrm>
            <a:off x="6903720" y="475488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6D28D9"/>
                </a:solidFill>
              </a:rPr>
              <a:t>NIST Identify + Protect / ISO Supplier Security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1600200" y="5806440"/>
            <a:ext cx="89611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74520" y="5989320"/>
            <a:ext cx="8458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AA6"/>
                </a:solidFill>
              </a:rPr>
              <a:t>Risk → Security Objective → Security Control → Framework Reference → Architecture Component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Security Architecture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78638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Target design applies defense-in-depth, segmentation, protection, recovery and SOC/SIEM monitoring.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HDIIA Critical Infrastructure Security Assessment  |  10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549640" y="651052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Portfolio-ready client presentation</a:t>
            </a:r>
            <a:endParaRPr lang="en-US" sz="750" dirty="0"/>
          </a:p>
        </p:txBody>
      </p:sp>
      <p:pic>
        <p:nvPicPr>
          <p:cNvPr id="9" name="Image 0" descr="/mnt/data/hdiia_work/repo/HDIIA-Critical-Infrastructure-Security-Assessment/diagrams/security_architecture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6050" y="1417320"/>
            <a:ext cx="6789420" cy="45262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07008" y="6089904"/>
            <a:ext cx="9601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0B1F33"/>
                </a:solidFill>
              </a:rPr>
              <a:t>Architecture intent: reduce blast radius, improve visibility and protect critical business systems through layered controls.</a:t>
            </a:r>
            <a:endParaRPr lang="en-US" sz="11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Trust Target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78638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The target state validates identity, device, policy and privilege before access to protected resources.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HDIIA Critical Infrastructure Security Assessment  |  11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549640" y="651052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Portfolio-ready client presentation</a:t>
            </a:r>
            <a:endParaRPr lang="en-US" sz="750" dirty="0"/>
          </a:p>
        </p:txBody>
      </p:sp>
      <p:pic>
        <p:nvPicPr>
          <p:cNvPr id="9" name="Image 0" descr="/mnt/data/hdiia_work/repo/HDIIA-Critical-Infrastructure-Security-Assessment/diagrams/zero_trust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2626" y="1325880"/>
            <a:ext cx="6652260" cy="44348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331720" y="5870448"/>
            <a:ext cx="1920240" cy="310896"/>
          </a:xfrm>
          <a:prstGeom prst="roundRect">
            <a:avLst>
              <a:gd name="adj" fmla="val 35294"/>
            </a:avLst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04872" y="5943600"/>
            <a:ext cx="17739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Verify explicitly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4983480" y="5870448"/>
            <a:ext cx="1920240" cy="310896"/>
          </a:xfrm>
          <a:prstGeom prst="roundRect">
            <a:avLst>
              <a:gd name="adj" fmla="val 35294"/>
            </a:avLst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56632" y="5943600"/>
            <a:ext cx="17739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Use least privilege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7635240" y="5870448"/>
            <a:ext cx="1920240" cy="310896"/>
          </a:xfrm>
          <a:prstGeom prst="roundRect">
            <a:avLst>
              <a:gd name="adj" fmla="val 35294"/>
            </a:avLst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08392" y="5943600"/>
            <a:ext cx="17739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Assume breach</a:t>
            </a:r>
            <a:endParaRPr lang="en-US" sz="8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Improvement Roadmap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78638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Priorities are sequenced by risk reduction value, implementation dependency and maturity impact.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HDIIA Critical Infrastructure Security Assessment  |  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549640" y="651052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Portfolio-ready client presentation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13232" y="1627632"/>
            <a:ext cx="3273552" cy="3977640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1627632"/>
            <a:ext cx="3273552" cy="73152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AA6"/>
                </a:solidFill>
              </a:rPr>
              <a:t>0–3 months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23774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0B1F33"/>
                </a:solidFill>
              </a:rPr>
              <a:t>Stabilize foundations</a:t>
            </a:r>
            <a:endParaRPr lang="en-US" sz="1240" dirty="0"/>
          </a:p>
        </p:txBody>
      </p:sp>
      <p:sp>
        <p:nvSpPr>
          <p:cNvPr id="13" name="Shape 11"/>
          <p:cNvSpPr/>
          <p:nvPr/>
        </p:nvSpPr>
        <p:spPr>
          <a:xfrm>
            <a:off x="969264" y="2999232"/>
            <a:ext cx="73152" cy="73152"/>
          </a:xfrm>
          <a:prstGeom prst="ellipse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92608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11827"/>
                </a:solidFill>
              </a:rPr>
              <a:t>MFA implementation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969264" y="3502152"/>
            <a:ext cx="73152" cy="73152"/>
          </a:xfrm>
          <a:prstGeom prst="ellipse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33856" y="342900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11827"/>
                </a:solidFill>
              </a:rPr>
              <a:t>Security logging improvement</a:t>
            </a:r>
            <a:endParaRPr lang="en-US" sz="1130" dirty="0"/>
          </a:p>
        </p:txBody>
      </p:sp>
      <p:sp>
        <p:nvSpPr>
          <p:cNvPr id="17" name="Shape 15"/>
          <p:cNvSpPr/>
          <p:nvPr/>
        </p:nvSpPr>
        <p:spPr>
          <a:xfrm>
            <a:off x="969264" y="4005072"/>
            <a:ext cx="73152" cy="73152"/>
          </a:xfrm>
          <a:prstGeom prst="ellipse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393192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11827"/>
                </a:solidFill>
              </a:rPr>
              <a:t>Critical asset visibility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969264" y="4507992"/>
            <a:ext cx="73152" cy="73152"/>
          </a:xfrm>
          <a:prstGeom prst="ellipse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3856" y="443484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11827"/>
                </a:solidFill>
              </a:rPr>
              <a:t>Backup validation</a:t>
            </a:r>
            <a:endParaRPr lang="en-US" sz="1130" dirty="0"/>
          </a:p>
        </p:txBody>
      </p:sp>
      <p:sp>
        <p:nvSpPr>
          <p:cNvPr id="21" name="Shape 19"/>
          <p:cNvSpPr/>
          <p:nvPr/>
        </p:nvSpPr>
        <p:spPr>
          <a:xfrm>
            <a:off x="4489704" y="1627632"/>
            <a:ext cx="3273552" cy="3977640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9704" y="1627632"/>
            <a:ext cx="32735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90872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580C"/>
                </a:solidFill>
              </a:rPr>
              <a:t>3–12 months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690872" y="23774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0B1F33"/>
                </a:solidFill>
              </a:rPr>
              <a:t>Build managed capability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4745736" y="2999232"/>
            <a:ext cx="73152" cy="73152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0328" y="292608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11827"/>
                </a:solidFill>
              </a:rPr>
              <a:t>Network segmentation</a:t>
            </a:r>
            <a:endParaRPr lang="en-US" sz="1130" dirty="0"/>
          </a:p>
        </p:txBody>
      </p:sp>
      <p:sp>
        <p:nvSpPr>
          <p:cNvPr id="27" name="Shape 25"/>
          <p:cNvSpPr/>
          <p:nvPr/>
        </p:nvSpPr>
        <p:spPr>
          <a:xfrm>
            <a:off x="4745736" y="3502152"/>
            <a:ext cx="73152" cy="73152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0328" y="342900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11827"/>
                </a:solidFill>
              </a:rPr>
              <a:t>SIEM enhancement</a:t>
            </a:r>
            <a:endParaRPr lang="en-US" sz="1130" dirty="0"/>
          </a:p>
        </p:txBody>
      </p:sp>
      <p:sp>
        <p:nvSpPr>
          <p:cNvPr id="29" name="Shape 27"/>
          <p:cNvSpPr/>
          <p:nvPr/>
        </p:nvSpPr>
        <p:spPr>
          <a:xfrm>
            <a:off x="4745736" y="4005072"/>
            <a:ext cx="73152" cy="73152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10328" y="393192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11827"/>
                </a:solidFill>
              </a:rPr>
              <a:t>PAM implementation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4745736" y="4507992"/>
            <a:ext cx="73152" cy="73152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10328" y="443484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11827"/>
                </a:solidFill>
              </a:rPr>
              <a:t>Security process maturity</a:t>
            </a:r>
            <a:endParaRPr lang="en-US" sz="1130" dirty="0"/>
          </a:p>
        </p:txBody>
      </p:sp>
      <p:sp>
        <p:nvSpPr>
          <p:cNvPr id="33" name="Shape 31"/>
          <p:cNvSpPr/>
          <p:nvPr/>
        </p:nvSpPr>
        <p:spPr>
          <a:xfrm>
            <a:off x="8266176" y="1627632"/>
            <a:ext cx="3273552" cy="3977640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66176" y="1627632"/>
            <a:ext cx="3273552" cy="7315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67344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</a:rPr>
              <a:t>12+ months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467344" y="23774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0B1F33"/>
                </a:solidFill>
              </a:rPr>
              <a:t>Optimize continuously</a:t>
            </a:r>
            <a:endParaRPr lang="en-US" sz="1240" dirty="0"/>
          </a:p>
        </p:txBody>
      </p:sp>
      <p:sp>
        <p:nvSpPr>
          <p:cNvPr id="37" name="Shape 35"/>
          <p:cNvSpPr/>
          <p:nvPr/>
        </p:nvSpPr>
        <p:spPr>
          <a:xfrm>
            <a:off x="8522208" y="2999232"/>
            <a:ext cx="73152" cy="73152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0" y="292608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11827"/>
                </a:solidFill>
              </a:rPr>
              <a:t>Advanced detection</a:t>
            </a:r>
            <a:endParaRPr lang="en-US" sz="1130" dirty="0"/>
          </a:p>
        </p:txBody>
      </p:sp>
      <p:sp>
        <p:nvSpPr>
          <p:cNvPr id="39" name="Shape 37"/>
          <p:cNvSpPr/>
          <p:nvPr/>
        </p:nvSpPr>
        <p:spPr>
          <a:xfrm>
            <a:off x="8522208" y="3502152"/>
            <a:ext cx="73152" cy="73152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86800" y="342900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11827"/>
                </a:solidFill>
              </a:rPr>
              <a:t>Zero Trust maturity</a:t>
            </a:r>
            <a:endParaRPr lang="en-US" sz="1130" dirty="0"/>
          </a:p>
        </p:txBody>
      </p:sp>
      <p:sp>
        <p:nvSpPr>
          <p:cNvPr id="41" name="Shape 39"/>
          <p:cNvSpPr/>
          <p:nvPr/>
        </p:nvSpPr>
        <p:spPr>
          <a:xfrm>
            <a:off x="8522208" y="4005072"/>
            <a:ext cx="73152" cy="73152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86800" y="393192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11827"/>
                </a:solidFill>
              </a:rPr>
              <a:t>Continuous improvement program</a:t>
            </a:r>
            <a:endParaRPr lang="en-US" sz="1130" dirty="0"/>
          </a:p>
        </p:txBody>
      </p:sp>
      <p:sp>
        <p:nvSpPr>
          <p:cNvPr id="43" name="Shape 41"/>
          <p:cNvSpPr/>
          <p:nvPr/>
        </p:nvSpPr>
        <p:spPr>
          <a:xfrm>
            <a:off x="713232" y="5833872"/>
            <a:ext cx="10716768" cy="457200"/>
          </a:xfrm>
          <a:prstGeom prst="roundRect">
            <a:avLst>
              <a:gd name="adj" fmla="val 16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5998464"/>
            <a:ext cx="10241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5803D"/>
                </a:solidFill>
              </a:rPr>
              <a:t>Target outcome: transition from defined capabilities to Level 4 — Managed security architecture and operations.</a:t>
            </a:r>
            <a:endParaRPr lang="en-US" sz="11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F33"/>
                </a:solidFill>
              </a:rPr>
              <a:t>Security Metrics &amp; Final Recommendations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12064" y="749808"/>
            <a:ext cx="9784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Measure execution, prove maturity growth, and keep risk treatment aligned with architecture decisions.</a:t>
            </a:r>
            <a:endParaRPr lang="en-US" sz="1150" dirty="0"/>
          </a:p>
        </p:txBody>
      </p:sp>
      <p:pic>
        <p:nvPicPr>
          <p:cNvPr id="6" name="Image 0" descr="/mnt/data/hdiia_work/repo/HDIIA-Critical-Infrastructure-Security-Assessment/08_Security_Improvement_Roadmap/security_metrics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567"/>
            <a:ext cx="7635240" cy="429710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0768" y="1307592"/>
            <a:ext cx="0" cy="310896"/>
          </a:xfrm>
          <a:prstGeom prst="line">
            <a:avLst/>
          </a:prstGeom>
          <a:noFill/>
          <a:ln w="38100">
            <a:solidFill>
              <a:srgbClr val="1580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58784" y="1261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</a:rPr>
              <a:t>Executive close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485632" y="1737360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803D"/>
                </a:solidFill>
              </a:rPr>
              <a:t>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915400" y="175564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b="1" dirty="0">
                <a:solidFill>
                  <a:srgbClr val="0B1F33"/>
                </a:solidFill>
              </a:rPr>
              <a:t>Prioritize IAM/PAM hardening</a:t>
            </a:r>
            <a:endParaRPr lang="en-US" sz="1240" dirty="0"/>
          </a:p>
        </p:txBody>
      </p:sp>
      <p:sp>
        <p:nvSpPr>
          <p:cNvPr id="11" name="Text 8"/>
          <p:cNvSpPr/>
          <p:nvPr/>
        </p:nvSpPr>
        <p:spPr>
          <a:xfrm>
            <a:off x="8915400" y="206654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Credential compromise is the only Critical risk.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85632" y="2697480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803D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915400" y="271576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b="1" dirty="0">
                <a:solidFill>
                  <a:srgbClr val="0B1F33"/>
                </a:solidFill>
              </a:rPr>
              <a:t>Validate resilience</a:t>
            </a:r>
            <a:endParaRPr lang="en-US" sz="1240" dirty="0"/>
          </a:p>
        </p:txBody>
      </p:sp>
      <p:sp>
        <p:nvSpPr>
          <p:cNvPr id="14" name="Text 11"/>
          <p:cNvSpPr/>
          <p:nvPr/>
        </p:nvSpPr>
        <p:spPr>
          <a:xfrm>
            <a:off x="8915400" y="302666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Ransomware and network disruption require tested recovery.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485632" y="3657600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803D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915400" y="367588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b="1" dirty="0">
                <a:solidFill>
                  <a:srgbClr val="0B1F33"/>
                </a:solidFill>
              </a:rPr>
              <a:t>Operationalize metrics</a:t>
            </a:r>
            <a:endParaRPr lang="en-US" sz="1240" dirty="0"/>
          </a:p>
        </p:txBody>
      </p:sp>
      <p:sp>
        <p:nvSpPr>
          <p:cNvPr id="17" name="Text 14"/>
          <p:cNvSpPr/>
          <p:nvPr/>
        </p:nvSpPr>
        <p:spPr>
          <a:xfrm>
            <a:off x="8915400" y="398678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Use KPIs to move from Defined to Managed maturity.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485632" y="4892040"/>
            <a:ext cx="278892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68512" y="5074920"/>
            <a:ext cx="2423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15803D"/>
                </a:solidFill>
              </a:rPr>
              <a:t>Final position: portfolio-ready consulting artifact for risk, architecture and security improvement planning.</a:t>
            </a:r>
            <a:endParaRPr lang="en-US" sz="940" dirty="0"/>
          </a:p>
        </p:txBody>
      </p:sp>
      <p:sp>
        <p:nvSpPr>
          <p:cNvPr id="20" name="Text 17"/>
          <p:cNvSpPr/>
          <p:nvPr/>
        </p:nvSpPr>
        <p:spPr>
          <a:xfrm>
            <a:off x="50292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HDIIA Critical Infrastructure Security Assessment  |  13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8549640" y="651052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Portfolio-ready client presentation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Portfolio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HDIIA Security Assessment Presentation</dc:title>
  <dc:subject>Critical Infrastructure Security Assessment</dc:subject>
  <dc:creator>HDIIA Security Assessment Portfolio</dc:creator>
  <cp:lastModifiedBy>HDIIA Security Assessment Portfolio</cp:lastModifiedBy>
  <cp:revision>1</cp:revision>
  <dcterms:created xsi:type="dcterms:W3CDTF">2026-09-02T07:05:19Z</dcterms:created>
  <dcterms:modified xsi:type="dcterms:W3CDTF">2026-09-02T07:05:19Z</dcterms:modified>
</cp:coreProperties>
</file>